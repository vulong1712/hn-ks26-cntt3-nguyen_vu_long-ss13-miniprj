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97487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60527"/>
            <a:ext cx="1333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78" y="4426082"/>
            <a:ext cx="1524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845022"/>
            <a:ext cx="509594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38BDF8"/>
                </a:solidFill>
                <a:latin typeface="Inter"/>
              </a:rPr>
              <a:t>MINI PROJECT • NHẬP MÔN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59347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 err="1">
                <a:solidFill>
                  <a:srgbClr val="FFFFFF"/>
                </a:solidFill>
                <a:latin typeface="Inter"/>
              </a:rPr>
              <a:t>Hệ</a:t>
            </a:r>
            <a:r>
              <a:rPr sz="3900" b="1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Inter"/>
              </a:rPr>
              <a:t>thống</a:t>
            </a:r>
            <a:r>
              <a:rPr sz="3900" b="1" i="0" u="none" dirty="0">
                <a:solidFill>
                  <a:srgbClr val="FFFFFF"/>
                </a:solidFill>
                <a:latin typeface="Inter"/>
              </a:rPr>
              <a:t> Quản </a:t>
            </a:r>
            <a:r>
              <a:rPr sz="3900" b="1" i="0" u="none" dirty="0" err="1">
                <a:solidFill>
                  <a:srgbClr val="FFFFFF"/>
                </a:solidFill>
                <a:latin typeface="Inter"/>
              </a:rPr>
              <a:t>trị</a:t>
            </a:r>
            <a:r>
              <a:rPr sz="3900" b="1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Inter"/>
              </a:rPr>
              <a:t>Hạ</a:t>
            </a:r>
            <a:r>
              <a:rPr sz="3900" b="1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Inter"/>
              </a:rPr>
              <a:t>tầng</a:t>
            </a:r>
            <a:r>
              <a:rPr sz="3900" b="1" i="0" u="none" dirty="0">
                <a:solidFill>
                  <a:srgbClr val="FFFFFF"/>
                </a:solidFill>
                <a:latin typeface="Inter"/>
              </a:rPr>
              <a:t> &amp; Nhật </a:t>
            </a:r>
            <a:r>
              <a:rPr sz="3900" b="1" i="0" u="none" dirty="0" err="1">
                <a:solidFill>
                  <a:srgbClr val="FFFFFF"/>
                </a:solidFill>
                <a:latin typeface="Inter"/>
              </a:rPr>
              <a:t>ký</a:t>
            </a:r>
            <a:r>
              <a:rPr sz="3900" b="1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Inter"/>
              </a:rPr>
              <a:t>Kỹ</a:t>
            </a:r>
            <a:r>
              <a:rPr sz="3900" b="1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Inter"/>
              </a:rPr>
              <a:t>thuật</a:t>
            </a:r>
            <a:endParaRPr sz="39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3527077"/>
            <a:ext cx="6762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i="0" u="none" dirty="0" err="1">
                <a:solidFill>
                  <a:srgbClr val="94A3B8"/>
                </a:solidFill>
                <a:latin typeface="Inter"/>
              </a:rPr>
              <a:t>Tự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động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hóa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phân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tích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log,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chuẩn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hóa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cơ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sở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dữ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liệu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phần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cứng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và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quản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lý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vận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hành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Startup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công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Inter"/>
              </a:rPr>
              <a:t>nghệ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97310"/>
            <a:ext cx="3403550" cy="3238500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4394150" y="2297310"/>
            <a:ext cx="3403550" cy="3238500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8026450" y="2297310"/>
            <a:ext cx="3403550" cy="3238500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61163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75" y="261163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261163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" y="273546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012" y="2735460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738" y="2735460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Mục tiêu chiến lược dự 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720338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u="none" dirty="0" err="1">
                <a:solidFill>
                  <a:srgbClr val="64748B"/>
                </a:solidFill>
                <a:latin typeface="Inter"/>
              </a:rPr>
              <a:t>Vận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dụng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tổng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hợp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tư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duy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nền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tảng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CNTT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vào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thực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tế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doanh</a:t>
            </a:r>
            <a:r>
              <a:rPr sz="2000" b="1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u="none" dirty="0" err="1">
                <a:solidFill>
                  <a:srgbClr val="64748B"/>
                </a:solidFill>
                <a:latin typeface="Inter"/>
              </a:rPr>
              <a:t>nghiệp</a:t>
            </a:r>
            <a:endParaRPr sz="2000" b="1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6325" y="3259335"/>
            <a:ext cx="223298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Inter"/>
              </a:rPr>
              <a:t>Mô hình DIKW &amp; 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671808"/>
            <a:ext cx="2870150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Làm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chủ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quy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trình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xử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lý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thông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tin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từ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Data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thô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thành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Tri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thức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hệ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thống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3259335"/>
            <a:ext cx="192681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0F172A"/>
                </a:solidFill>
                <a:latin typeface="Inter"/>
              </a:rPr>
              <a:t>Tự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0F172A"/>
                </a:solidFill>
                <a:latin typeface="Inter"/>
              </a:rPr>
              <a:t>động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0F172A"/>
                </a:solidFill>
                <a:latin typeface="Inter"/>
              </a:rPr>
              <a:t>hóa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8475" y="3681747"/>
            <a:ext cx="2870150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Xử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lý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tập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tin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nhật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ký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hàng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triệu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dòng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bằng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đường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ống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Pipe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siêu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tốc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3259335"/>
            <a:ext cx="194123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Inter"/>
              </a:rPr>
              <a:t>Database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3651930"/>
            <a:ext cx="2870150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Chuẩn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hóa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quan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hệ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dữ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liệu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phần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cứng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IoT qua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hàm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VLOOKUP &amp; TRIM.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57875" y="2916435"/>
            <a:ext cx="5572125" cy="20002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78323"/>
            <a:ext cx="3429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26048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73773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73573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721298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4569023"/>
            <a:ext cx="1714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Bối cảnh bài toán: Startup GreenTech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75270"/>
            <a:ext cx="722152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Thách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thức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vận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hành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hạ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tầng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100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trạm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cảm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biến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IoT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ngoài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trang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trại</a:t>
            </a:r>
            <a:endParaRPr sz="20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36348" y="3306960"/>
            <a:ext cx="415178" cy="5157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1600" b="1" i="0" u="none">
                <a:solidFill>
                  <a:srgbClr val="0284C7"/>
                </a:solidFill>
                <a:latin typeface="Inter"/>
              </a:rPr>
              <a:t>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0569" y="4068960"/>
            <a:ext cx="18867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Inter"/>
              </a:rPr>
              <a:t>Trạm IoT Tự động hóa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238" y="4345185"/>
            <a:ext cx="501739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u="none">
                <a:solidFill>
                  <a:srgbClr val="64748B"/>
                </a:solidFill>
                <a:latin typeface="Inter"/>
              </a:rPr>
              <a:t>Được giám sát toàn diện 24/7 qua đường ống script tự động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2759273"/>
            <a:ext cx="169277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Bùng nổ dữ liệu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2997398"/>
            <a:ext cx="43910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75569"/>
                </a:solidFill>
                <a:latin typeface="Inter"/>
              </a:rPr>
              <a:t>Hệ thống phát sinh hàng triệu dòng nhật ký sự cố, nguy cơ tràn RAM khi xử lý thủ công.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3606998"/>
            <a:ext cx="240931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Quản lý tài nguyên phân tán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3845123"/>
            <a:ext cx="43910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75569"/>
                </a:solidFill>
                <a:latin typeface="Inter"/>
              </a:rPr>
              <a:t>Kiểm soát chặt chẽ thông số linh kiện (CPU, RAM, SSD) của 100 trạm cảm biến từ xa.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4454723"/>
            <a:ext cx="192321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Tiêu chuẩn hóa tài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4692848"/>
            <a:ext cx="43910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Yêu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cầu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biên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soạn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Runbook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và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SRS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chuyên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nghiệp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cho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nhân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sự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kỹ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thuật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trực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ca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mới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61369"/>
            <a:ext cx="5486400" cy="2072282"/>
          </a:xfrm>
          <a:prstGeom prst="roundRect">
            <a:avLst>
              <a:gd name="adj" fmla="val 735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ounded Rectangle 2"/>
          <p:cNvSpPr/>
          <p:nvPr/>
        </p:nvSpPr>
        <p:spPr>
          <a:xfrm>
            <a:off x="6553200" y="2811660"/>
            <a:ext cx="487680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6553200" y="3973710"/>
            <a:ext cx="48768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753225" y="3278385"/>
            <a:ext cx="4476750" cy="304800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5" y="3030735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4192785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Cấu trúc Cây thư mục chuẩn Kebab-Case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75270"/>
            <a:ext cx="644394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Thiết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kế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lưu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trữ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khoa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học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4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trụ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cột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,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chống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thất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lạc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tài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nguyên</a:t>
            </a:r>
            <a:endParaRPr sz="20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800" y="3166169"/>
            <a:ext cx="497205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1" i="0" u="none" dirty="0" err="1">
                <a:solidFill>
                  <a:srgbClr val="38BDF8"/>
                </a:solidFill>
                <a:latin typeface="monospace"/>
              </a:rPr>
              <a:t>greentech</a:t>
            </a:r>
            <a:r>
              <a:rPr sz="1600" b="1" i="0" u="none" dirty="0">
                <a:solidFill>
                  <a:srgbClr val="38BDF8"/>
                </a:solidFill>
                <a:latin typeface="monospace"/>
              </a:rPr>
              <a:t>-system/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├── </a:t>
            </a:r>
            <a:r>
              <a:rPr sz="1600" b="0" i="0" u="none" dirty="0">
                <a:solidFill>
                  <a:srgbClr val="F43F5E"/>
                </a:solidFill>
                <a:latin typeface="monospace"/>
              </a:rPr>
              <a:t>docs/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(README.md &amp; SRS Word)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├── </a:t>
            </a:r>
            <a:r>
              <a:rPr sz="1600" b="0" i="0" u="none" dirty="0">
                <a:solidFill>
                  <a:srgbClr val="F43F5E"/>
                </a:solidFill>
                <a:latin typeface="monospace"/>
              </a:rPr>
              <a:t>scripts/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(auto_report.</a:t>
            </a:r>
            <a:r>
              <a:rPr lang="en-US" sz="1600" dirty="0">
                <a:solidFill>
                  <a:srgbClr val="94A3B8"/>
                </a:solidFill>
                <a:latin typeface="monospace"/>
              </a:rPr>
              <a:t>ps1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)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├── </a:t>
            </a:r>
            <a:r>
              <a:rPr sz="1600" b="0" i="0" u="none" dirty="0">
                <a:solidFill>
                  <a:srgbClr val="F43F5E"/>
                </a:solidFill>
                <a:latin typeface="monospace"/>
              </a:rPr>
              <a:t>data/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(log file &amp; excel database)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├── </a:t>
            </a:r>
            <a:r>
              <a:rPr sz="1600" b="0" i="0" u="none" dirty="0">
                <a:solidFill>
                  <a:srgbClr val="F43F5E"/>
                </a:solidFill>
                <a:latin typeface="monospace"/>
              </a:rPr>
              <a:t>backup/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(bao-cao-su-co.txt)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└── </a:t>
            </a:r>
            <a:r>
              <a:rPr sz="1600" b="0" i="0" u="none" dirty="0">
                <a:solidFill>
                  <a:srgbClr val="34D399"/>
                </a:solidFill>
                <a:latin typeface="monospace"/>
              </a:rPr>
              <a:t>.env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Cấu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hình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bảo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mật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ẩn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225" y="3011685"/>
            <a:ext cx="5438775" cy="1905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Lệnh khởi tạo 1 dòng (Terminal)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3354585"/>
            <a:ext cx="4343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 err="1">
                <a:solidFill>
                  <a:srgbClr val="475569"/>
                </a:solidFill>
                <a:latin typeface="monospace"/>
              </a:rPr>
              <a:t>mkdir</a:t>
            </a:r>
            <a:r>
              <a:rPr sz="1600" b="0" i="0" u="none" dirty="0">
                <a:solidFill>
                  <a:srgbClr val="475569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monospace"/>
              </a:rPr>
              <a:t>docs</a:t>
            </a:r>
            <a:r>
              <a:rPr lang="en-US" sz="1600" b="0" i="0" u="none" dirty="0" err="1">
                <a:solidFill>
                  <a:srgbClr val="475569"/>
                </a:solidFill>
                <a:latin typeface="monospace"/>
              </a:rPr>
              <a:t>,</a:t>
            </a:r>
            <a:r>
              <a:rPr sz="1600" b="0" i="0" u="none" dirty="0" err="1">
                <a:solidFill>
                  <a:srgbClr val="475569"/>
                </a:solidFill>
                <a:latin typeface="monospace"/>
              </a:rPr>
              <a:t>scripts</a:t>
            </a:r>
            <a:r>
              <a:rPr lang="en-US" sz="1600" dirty="0" err="1">
                <a:solidFill>
                  <a:srgbClr val="475569"/>
                </a:solidFill>
                <a:latin typeface="monospace"/>
              </a:rPr>
              <a:t>,</a:t>
            </a:r>
            <a:r>
              <a:rPr sz="1600" b="0" i="0" u="none" dirty="0" err="1">
                <a:solidFill>
                  <a:srgbClr val="475569"/>
                </a:solidFill>
                <a:latin typeface="monospace"/>
              </a:rPr>
              <a:t>data</a:t>
            </a:r>
            <a:r>
              <a:rPr lang="en-US" sz="1600" dirty="0" err="1">
                <a:solidFill>
                  <a:srgbClr val="475569"/>
                </a:solidFill>
                <a:latin typeface="monospace"/>
              </a:rPr>
              <a:t>,</a:t>
            </a:r>
            <a:r>
              <a:rPr sz="1600" b="0" i="0" u="none" dirty="0" err="1">
                <a:solidFill>
                  <a:srgbClr val="475569"/>
                </a:solidFill>
                <a:latin typeface="monospace"/>
              </a:rPr>
              <a:t>backup</a:t>
            </a:r>
            <a:r>
              <a:rPr sz="1600" b="0" i="0" u="none" dirty="0">
                <a:solidFill>
                  <a:srgbClr val="475569"/>
                </a:solidFill>
                <a:latin typeface="monospace"/>
              </a:rPr>
              <a:t>; New-Item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4173735"/>
            <a:ext cx="5438775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An toàn đường dẫn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4421385"/>
            <a:ext cx="4572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Tuyệt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đối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không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dùng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tiếng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Việt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có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dấu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hay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khoảng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trắng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trong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tên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thư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mục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gốc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38866" y="1771465"/>
            <a:ext cx="7636565" cy="2133600"/>
          </a:xfrm>
          <a:prstGeom prst="roundRect">
            <a:avLst>
              <a:gd name="adj" fmla="val 714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ounded Rectangle 2"/>
          <p:cNvSpPr/>
          <p:nvPr/>
        </p:nvSpPr>
        <p:spPr>
          <a:xfrm>
            <a:off x="3760718" y="5152874"/>
            <a:ext cx="49149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831" y="5409996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Module 2: Robot lọc Log tự động qua Pipe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75270"/>
            <a:ext cx="634186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Xử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lý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tệp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log 500MB an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toàn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,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không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làm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tràn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RAM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hệ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thống</a:t>
            </a:r>
            <a:endParaRPr sz="20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18120" y="2114738"/>
            <a:ext cx="7357311" cy="1644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5"/>
              </a:lnSpc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monospace"/>
              </a:rPr>
              <a:t>"=== BAO CAO SU CO ===" &gt; .\backup\bao-cao-su-co.txt</a:t>
            </a:r>
          </a:p>
          <a:p>
            <a:pPr>
              <a:lnSpc>
                <a:spcPts val="1575"/>
              </a:lnSpc>
            </a:pPr>
            <a:endParaRPr lang="en-US" sz="1600" dirty="0">
              <a:solidFill>
                <a:schemeClr val="bg2">
                  <a:lumMod val="75000"/>
                </a:schemeClr>
              </a:solidFill>
              <a:latin typeface="monospace"/>
            </a:endParaRPr>
          </a:p>
          <a:p>
            <a:pPr>
              <a:lnSpc>
                <a:spcPts val="1575"/>
              </a:lnSpc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monospace"/>
              </a:rPr>
              <a:t>cat .\data\log-he-thong.log | select-string "CRITICAL" &gt;&gt; .\backup\bao-cao-su-co.txt</a:t>
            </a:r>
          </a:p>
          <a:p>
            <a:pPr>
              <a:lnSpc>
                <a:spcPts val="1575"/>
              </a:lnSpc>
            </a:pPr>
            <a:endParaRPr lang="en-US" sz="1600" dirty="0">
              <a:solidFill>
                <a:schemeClr val="bg2">
                  <a:lumMod val="75000"/>
                </a:schemeClr>
              </a:solidFill>
              <a:latin typeface="monospace"/>
            </a:endParaRPr>
          </a:p>
          <a:p>
            <a:pPr>
              <a:lnSpc>
                <a:spcPts val="1575"/>
              </a:lnSpc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monospace"/>
              </a:rPr>
              <a:t>cat .\data\log-he-thong.log | select-string "ERROR" &gt;&gt; .\backup\bao-cao-su-co.txt</a:t>
            </a:r>
          </a:p>
          <a:p>
            <a:pPr>
              <a:lnSpc>
                <a:spcPts val="1575"/>
              </a:lnSpc>
            </a:pPr>
            <a:endParaRPr lang="en-US" sz="1600" dirty="0">
              <a:solidFill>
                <a:schemeClr val="bg2">
                  <a:lumMod val="75000"/>
                </a:schemeClr>
              </a:solidFill>
              <a:latin typeface="monospace"/>
            </a:endParaRPr>
          </a:p>
          <a:p>
            <a:pPr>
              <a:lnSpc>
                <a:spcPts val="1575"/>
              </a:lnSpc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monospace"/>
              </a:rPr>
              <a:t>echo "Da trich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monospace"/>
              </a:rPr>
              <a:t>xuat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monospace"/>
              </a:rPr>
              <a:t> bao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monospace"/>
              </a:rPr>
              <a:t>cao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monospace"/>
              </a:rPr>
              <a:t>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monospace"/>
              </a:rPr>
              <a:t>vao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monospace"/>
              </a:rPr>
              <a:t> .\backup\bao-cao-su-co.txt"</a:t>
            </a:r>
          </a:p>
          <a:p>
            <a:pPr algn="l">
              <a:lnSpc>
                <a:spcPts val="1575"/>
              </a:lnSpc>
            </a:pPr>
            <a:endParaRPr sz="1600" b="1" i="0" u="none" dirty="0">
              <a:solidFill>
                <a:srgbClr val="38BDF8"/>
              </a:solidFill>
              <a:latin typeface="monospac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65518" y="5340040"/>
            <a:ext cx="2952027" cy="246221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0F172A"/>
                </a:solidFill>
                <a:latin typeface="Inter"/>
              </a:rPr>
              <a:t>Đường</a:t>
            </a:r>
            <a:r>
              <a:rPr sz="16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Inter"/>
              </a:rPr>
              <a:t>ống</a:t>
            </a:r>
            <a:r>
              <a:rPr sz="1600" b="1" i="0" u="none" dirty="0">
                <a:solidFill>
                  <a:srgbClr val="0F172A"/>
                </a:solidFill>
                <a:latin typeface="Inter"/>
              </a:rPr>
              <a:t> Pipe (`</a:t>
            </a:r>
            <a:r>
              <a:rPr lang="en-US" sz="1600" b="1" dirty="0">
                <a:solidFill>
                  <a:srgbClr val="0F172A"/>
                </a:solidFill>
                <a:latin typeface="Inter"/>
              </a:rPr>
              <a:t>select-string</a:t>
            </a:r>
            <a:r>
              <a:rPr sz="1600" b="1" i="0" u="none" dirty="0">
                <a:solidFill>
                  <a:srgbClr val="0F172A"/>
                </a:solidFill>
                <a:latin typeface="Inter"/>
              </a:rPr>
              <a:t>`)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5518" y="5587690"/>
            <a:ext cx="46101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Lọc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chính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xác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các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từ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khóa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lỗi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nghiêm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trọng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mà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không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cần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nạp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toàn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bộ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file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vào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bộ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nhớ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92560"/>
            <a:ext cx="521970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92560"/>
            <a:ext cx="521970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70688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70688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30710"/>
            <a:ext cx="26670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262" y="2830710"/>
            <a:ext cx="16192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Module 3: Tài liệu vận hành Markdown &amp;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75270"/>
            <a:ext cx="691721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Tiêu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chuẩn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hóa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tài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liệu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kỹ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thuật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chuyên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nghiệp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cho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doanh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nghiệp</a:t>
            </a:r>
            <a:endParaRPr sz="20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6325" y="3275073"/>
            <a:ext cx="266579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Inter"/>
              </a:rPr>
              <a:t>README.md </a:t>
            </a:r>
            <a:r>
              <a:rPr sz="2000" b="1" i="0" u="none" dirty="0" err="1">
                <a:solidFill>
                  <a:srgbClr val="0F172A"/>
                </a:solidFill>
                <a:latin typeface="Inter"/>
              </a:rPr>
              <a:t>trên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622941"/>
            <a:ext cx="4686300" cy="69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 err="1">
                <a:solidFill>
                  <a:srgbClr val="475569"/>
                </a:solidFill>
                <a:latin typeface="Inter"/>
              </a:rPr>
              <a:t>Tích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hợp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tiêu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đề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H1,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hướng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dẫn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code block, checklist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nhiệm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vụ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và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bảng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thông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số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phần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cứng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trực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quan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314829"/>
            <a:ext cx="291746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Inter"/>
              </a:rPr>
              <a:t>SRS Document </a:t>
            </a:r>
            <a:r>
              <a:rPr sz="2000" b="1" i="0" u="none" dirty="0" err="1">
                <a:solidFill>
                  <a:srgbClr val="0F172A"/>
                </a:solidFill>
                <a:latin typeface="Inter"/>
              </a:rPr>
              <a:t>chuẩn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 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697485"/>
            <a:ext cx="4686300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475569"/>
                </a:solidFill>
                <a:latin typeface="Inter"/>
              </a:rPr>
              <a:t>Gán nhãn Heading Styles (1, 2, 3) khoa học và tích hợp Mục lục tự động (Auto TOC) linh hoạt.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624" y="1372628"/>
            <a:ext cx="5457825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ounded Rectangle 2"/>
          <p:cNvSpPr/>
          <p:nvPr/>
        </p:nvSpPr>
        <p:spPr>
          <a:xfrm>
            <a:off x="364849" y="1886978"/>
            <a:ext cx="4905375" cy="704850"/>
          </a:xfrm>
          <a:prstGeom prst="roundRect">
            <a:avLst>
              <a:gd name="adj" fmla="val 1351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669649" y="3815790"/>
            <a:ext cx="4905375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69649" y="5015940"/>
            <a:ext cx="4905375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74" y="4034865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74" y="5235015"/>
            <a:ext cx="1905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Module 4: Đối soát tài nguyên Excel thông minh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75270"/>
            <a:ext cx="684431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Ứng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dụng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hàm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VLOOKUP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chống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lỗi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tuyệt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đối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cho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Asset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9" y="1648853"/>
            <a:ext cx="262411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64748B"/>
                </a:solidFill>
                <a:latin typeface="Inter"/>
              </a:rPr>
              <a:t>CÔNG THỨC TRA CỨU TỐI ƯU: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49" y="2039378"/>
            <a:ext cx="4695825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>
                <a:solidFill>
                  <a:srgbClr val="38BDF8"/>
                </a:solidFill>
                <a:latin typeface="monospace"/>
              </a:rPr>
              <a:t>=VLOOKUP(TRIM(B2), 'danh-muc-linh-kien'!$A$2:$D$10, 2, FALSE)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9" y="2744228"/>
            <a:ext cx="5000625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Kết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hợp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1" i="0" u="none" dirty="0">
                <a:solidFill>
                  <a:srgbClr val="0F172A"/>
                </a:solidFill>
                <a:latin typeface="Inter"/>
              </a:rPr>
              <a:t>TRIM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làm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sạch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khoảng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trắng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thừa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và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khóa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tuyệt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đối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vùng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tìm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kiếm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bằng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1" i="0" u="none" dirty="0">
                <a:solidFill>
                  <a:srgbClr val="0F172A"/>
                </a:solidFill>
                <a:latin typeface="Inter"/>
              </a:rPr>
              <a:t>$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chống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lỗi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#N/A.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74" y="4015815"/>
            <a:ext cx="2343590" cy="246221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Thiết kế bảng tính phẳng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674" y="4263465"/>
            <a:ext cx="46005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75569"/>
                </a:solidFill>
                <a:latin typeface="Inter"/>
              </a:rPr>
              <a:t>Tuyệt đối không gộp ô (Merge Cells) hay chèn hàng trống để bộ lọc AutoFilter hoạt động mượt mà.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9674" y="5215965"/>
            <a:ext cx="2741713" cy="246221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Quan hệ Bảng cha - Bảng 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674" y="5463615"/>
            <a:ext cx="46005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75569"/>
                </a:solidFill>
                <a:latin typeface="Inter"/>
              </a:rPr>
              <a:t>Liên kết chặt chẽ giữa danh mục linh kiện gốc và trạng thái vận hành tại các trạm BTS.</a:t>
            </a:r>
          </a:p>
        </p:txBody>
      </p:sp>
      <p:sp>
        <p:nvSpPr>
          <p:cNvPr id="17" name="AutoShape 2" descr=", do AI tạo">
            <a:extLst>
              <a:ext uri="{FF2B5EF4-FFF2-40B4-BE49-F238E27FC236}">
                <a16:creationId xmlns:a16="http://schemas.microsoft.com/office/drawing/2014/main" id="{F0CDDAB0-F005-81E5-5B9C-D6D03B5E01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70224" y="177565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4" descr=", do AI tạo">
            <a:extLst>
              <a:ext uri="{FF2B5EF4-FFF2-40B4-BE49-F238E27FC236}">
                <a16:creationId xmlns:a16="http://schemas.microsoft.com/office/drawing/2014/main" id="{84C9A6C5-CE57-A990-03DC-14C3B5C66B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70250" y="33091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2415E63C-0E04-3284-5FB7-BC7A09B7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74" y="1283047"/>
            <a:ext cx="5778777" cy="50682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64010"/>
            <a:ext cx="3429000" cy="26670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4405313" y="2564010"/>
            <a:ext cx="3429000" cy="26670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8001000" y="2597269"/>
            <a:ext cx="3429000" cy="26670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821185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82118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5" y="2854444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Ràng buộc dữ liệu &amp; Xử lý bẫy kỹ thuật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75270"/>
            <a:ext cx="682398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64748B"/>
                </a:solidFill>
                <a:latin typeface="Inter"/>
              </a:rPr>
              <a:t>Các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tiêu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chí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cốt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lõi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giúp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đạt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điểm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tuyệt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đối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từ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hội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đồng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chấm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bài</a:t>
            </a:r>
            <a:endParaRPr sz="20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125" y="3123008"/>
            <a:ext cx="139621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0F172A"/>
                </a:solidFill>
                <a:latin typeface="Inter"/>
              </a:rPr>
              <a:t>Bẫy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 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470541"/>
            <a:ext cx="3048000" cy="631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Tuyệt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đối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không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dùng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tiếng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Việt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có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dấu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hoặc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khoảng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trắng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trong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tên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thư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mục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069467"/>
            <a:ext cx="105394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0F172A"/>
                </a:solidFill>
                <a:latin typeface="Inter"/>
              </a:rPr>
              <a:t>Bẫy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 Sc</a:t>
            </a:r>
            <a:r>
              <a:rPr lang="en-US" sz="2000" b="1" i="0" u="none" dirty="0">
                <a:solidFill>
                  <a:srgbClr val="0F172A"/>
                </a:solidFill>
                <a:latin typeface="Inter"/>
              </a:rPr>
              <a:t>r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460602"/>
            <a:ext cx="3048000" cy="837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Thẩm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định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kỹ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lưỡng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tránh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xa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các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câu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lệnh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xóa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file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hàng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loạt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nguy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hiểm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(`</a:t>
            </a:r>
            <a:r>
              <a:rPr lang="en-US" sz="2000" dirty="0">
                <a:solidFill>
                  <a:srgbClr val="475569"/>
                </a:solidFill>
                <a:latin typeface="Inter"/>
              </a:rPr>
              <a:t>rm –r –Force \*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`).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9125" y="3164085"/>
            <a:ext cx="98334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0F172A"/>
                </a:solidFill>
                <a:latin typeface="Inter"/>
              </a:rPr>
              <a:t>Bẫy</a:t>
            </a:r>
            <a:r>
              <a:rPr sz="2000" b="1" i="0" u="none" dirty="0">
                <a:solidFill>
                  <a:srgbClr val="0F172A"/>
                </a:solidFill>
                <a:latin typeface="Inter"/>
              </a:rPr>
              <a:t>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9125" y="3503800"/>
            <a:ext cx="3048000" cy="631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Không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gộp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ô (Merge Cells),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đảm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bảo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dữ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liệu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phẳng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để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bộ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lọc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hoạt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động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chính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xác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61667"/>
            <a:ext cx="5105400" cy="2071687"/>
          </a:xfrm>
          <a:prstGeom prst="roundRect">
            <a:avLst>
              <a:gd name="adj" fmla="val 73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72200" y="2768798"/>
            <a:ext cx="5257800" cy="2257425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9652" y="4123729"/>
            <a:ext cx="4943476" cy="495300"/>
          </a:xfrm>
          <a:prstGeom prst="roundRect">
            <a:avLst>
              <a:gd name="adj" fmla="val 1923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1076325" y="4123729"/>
            <a:ext cx="38100" cy="495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075" y="3206948"/>
            <a:ext cx="40005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Phân tích hiệu năng &amp; Tốc độ tải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75270"/>
            <a:ext cx="607070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Giải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bài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toán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phần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cứng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và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thông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lượng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mạng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viễn</a:t>
            </a:r>
            <a:r>
              <a:rPr sz="2000" b="1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64748B"/>
                </a:solidFill>
                <a:latin typeface="Inter"/>
              </a:rPr>
              <a:t>thông</a:t>
            </a:r>
            <a:endParaRPr sz="20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6325" y="3175992"/>
            <a:ext cx="4572000" cy="442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>
                <a:solidFill>
                  <a:srgbClr val="475569"/>
                </a:solidFill>
                <a:latin typeface="Inter"/>
              </a:rPr>
              <a:t>• Tốc độ đường truyền mạng trạm: </a:t>
            </a:r>
            <a:r>
              <a:rPr b="1" i="0" u="none">
                <a:solidFill>
                  <a:srgbClr val="0F172A"/>
                </a:solidFill>
                <a:latin typeface="Inter"/>
              </a:rPr>
              <a:t>100 Mbps = 12.5 MB/s</a:t>
            </a:r>
            <a:r>
              <a:rPr b="0" i="0" u="none">
                <a:solidFill>
                  <a:srgbClr val="475569"/>
                </a:solidFill>
                <a:latin typeface="Inter"/>
              </a:rPr>
              <a:t> (hệ số quy đổi 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718917"/>
            <a:ext cx="4449103" cy="2244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>
                <a:solidFill>
                  <a:srgbClr val="475569"/>
                </a:solidFill>
                <a:latin typeface="Inter"/>
              </a:rPr>
              <a:t>• Dung lượng tệp log hệ thống cần tải: </a:t>
            </a:r>
            <a:r>
              <a:rPr b="1" i="0" u="none">
                <a:solidFill>
                  <a:srgbClr val="0F172A"/>
                </a:solidFill>
                <a:latin typeface="Inter"/>
              </a:rPr>
              <a:t>500 MB</a:t>
            </a:r>
            <a:r>
              <a:rPr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6516" y="3873698"/>
            <a:ext cx="709168" cy="407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i="0" u="none">
                <a:solidFill>
                  <a:srgbClr val="0F172A"/>
                </a:solidFill>
                <a:latin typeface="Inter"/>
              </a:rPr>
              <a:t>40 Giây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8267" y="4445198"/>
            <a:ext cx="430566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64748B"/>
                </a:solidFill>
                <a:latin typeface="Inter"/>
              </a:rPr>
              <a:t>Thời gian hoàn tất đồng bộ log hệ thống từ xa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851" y="4232879"/>
            <a:ext cx="441107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0369A1"/>
                </a:solidFill>
                <a:latin typeface="Inter"/>
              </a:rPr>
              <a:t>Thời</a:t>
            </a:r>
            <a:r>
              <a:rPr sz="1600" b="1" i="0" u="none" dirty="0">
                <a:solidFill>
                  <a:srgbClr val="0369A1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0369A1"/>
                </a:solidFill>
                <a:latin typeface="Inter"/>
              </a:rPr>
              <a:t>gian</a:t>
            </a:r>
            <a:r>
              <a:rPr sz="1600" b="1" i="0" u="none" dirty="0">
                <a:solidFill>
                  <a:srgbClr val="0369A1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0369A1"/>
                </a:solidFill>
                <a:latin typeface="Inter"/>
              </a:rPr>
              <a:t>truyền</a:t>
            </a:r>
            <a:r>
              <a:rPr sz="1600" b="1" i="0" u="none" dirty="0">
                <a:solidFill>
                  <a:srgbClr val="0369A1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0369A1"/>
                </a:solidFill>
                <a:latin typeface="Inter"/>
              </a:rPr>
              <a:t>tải</a:t>
            </a:r>
            <a:r>
              <a:rPr sz="1600" b="1" i="0" u="none" dirty="0">
                <a:solidFill>
                  <a:srgbClr val="0369A1"/>
                </a:solidFill>
                <a:latin typeface="Inter"/>
              </a:rPr>
              <a:t> = 500 MB / 12.5 MB/s = 40 </a:t>
            </a:r>
            <a:r>
              <a:rPr sz="1600" b="1" i="0" u="none" dirty="0" err="1">
                <a:solidFill>
                  <a:srgbClr val="0369A1"/>
                </a:solidFill>
                <a:latin typeface="Inter"/>
              </a:rPr>
              <a:t>giây</a:t>
            </a:r>
            <a:r>
              <a:rPr sz="1600" b="1" i="0" u="none" dirty="0">
                <a:solidFill>
                  <a:srgbClr val="0369A1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0174" y="1734093"/>
            <a:ext cx="5486400" cy="28956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762000" y="975270"/>
            <a:ext cx="813761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 err="1">
                <a:latin typeface="Inter"/>
              </a:rPr>
              <a:t>Đóng</a:t>
            </a:r>
            <a:r>
              <a:rPr sz="3200" b="1" i="0" u="none" dirty="0">
                <a:latin typeface="Inter"/>
              </a:rPr>
              <a:t> </a:t>
            </a:r>
            <a:r>
              <a:rPr sz="3200" b="1" i="0" u="none" dirty="0" err="1">
                <a:latin typeface="Inter"/>
              </a:rPr>
              <a:t>gói</a:t>
            </a:r>
            <a:r>
              <a:rPr sz="3200" b="1" i="0" u="none" dirty="0">
                <a:latin typeface="Inter"/>
              </a:rPr>
              <a:t> </a:t>
            </a:r>
            <a:r>
              <a:rPr sz="3200" b="1" i="0" u="none" dirty="0" err="1">
                <a:latin typeface="Inter"/>
              </a:rPr>
              <a:t>hoàn</a:t>
            </a:r>
            <a:r>
              <a:rPr sz="3200" b="1" i="0" u="none" dirty="0">
                <a:latin typeface="Inter"/>
              </a:rPr>
              <a:t> </a:t>
            </a:r>
            <a:r>
              <a:rPr sz="3200" b="1" i="0" u="none" dirty="0" err="1">
                <a:latin typeface="Inter"/>
              </a:rPr>
              <a:t>chỉnh</a:t>
            </a:r>
            <a:r>
              <a:rPr sz="3200" b="1" i="0" u="none" dirty="0">
                <a:latin typeface="Inter"/>
              </a:rPr>
              <a:t> </a:t>
            </a:r>
            <a:r>
              <a:rPr sz="3200" b="1" i="0" u="none" dirty="0" err="1">
                <a:latin typeface="Inter"/>
              </a:rPr>
              <a:t>theo</a:t>
            </a:r>
            <a:r>
              <a:rPr sz="3200" b="1" i="0" u="none" dirty="0">
                <a:latin typeface="Inter"/>
              </a:rPr>
              <a:t> </a:t>
            </a:r>
            <a:r>
              <a:rPr sz="3200" b="1" i="0" u="none" dirty="0" err="1">
                <a:latin typeface="Inter"/>
              </a:rPr>
              <a:t>đúng</a:t>
            </a:r>
            <a:r>
              <a:rPr sz="3200" b="1" i="0" u="none" dirty="0">
                <a:latin typeface="Inter"/>
              </a:rPr>
              <a:t> </a:t>
            </a:r>
            <a:r>
              <a:rPr sz="3200" b="1" i="0" u="none" dirty="0" err="1">
                <a:latin typeface="Inter"/>
              </a:rPr>
              <a:t>quy</a:t>
            </a:r>
            <a:r>
              <a:rPr sz="3200" b="1" i="0" u="none" dirty="0">
                <a:latin typeface="Inter"/>
              </a:rPr>
              <a:t> </a:t>
            </a:r>
            <a:r>
              <a:rPr sz="3200" b="1" i="0" u="none" dirty="0" err="1">
                <a:latin typeface="Inter"/>
              </a:rPr>
              <a:t>định</a:t>
            </a:r>
            <a:r>
              <a:rPr sz="3200" b="1" i="0" u="none" dirty="0">
                <a:latin typeface="Inter"/>
              </a:rPr>
              <a:t> </a:t>
            </a:r>
            <a:r>
              <a:rPr sz="3200" b="1" i="0" u="none" dirty="0" err="1">
                <a:latin typeface="Inter"/>
              </a:rPr>
              <a:t>chuẩn</a:t>
            </a:r>
            <a:r>
              <a:rPr sz="3200" b="1" i="0" u="none" dirty="0">
                <a:latin typeface="Inter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0540" y="1796898"/>
            <a:ext cx="4972050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38BDF8"/>
                </a:solidFill>
                <a:latin typeface="monospace"/>
              </a:rPr>
              <a:t>HNKS26CNTT3_NhapmonCNTT_MiniProject_Infrastructure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├── </a:t>
            </a:r>
            <a:r>
              <a:rPr sz="1600" b="0" i="0" u="none" dirty="0">
                <a:solidFill>
                  <a:srgbClr val="FF0000"/>
                </a:solidFill>
                <a:latin typeface="monospace"/>
              </a:rPr>
              <a:t>docs/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│ ├── README.md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(Render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chuẩn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GitHub)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│ └── srs-he-thong.docx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Chuẩn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Styles &amp; Auto TOC)</a:t>
            </a:r>
            <a:endParaRPr lang="en-US" sz="1600" b="0" i="0" u="none" dirty="0">
              <a:solidFill>
                <a:srgbClr val="94A3B8"/>
              </a:solidFill>
              <a:latin typeface="monospace"/>
            </a:endParaRP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E2E8F0"/>
                </a:solidFill>
                <a:latin typeface="monospace"/>
              </a:rPr>
              <a:t>├── </a:t>
            </a:r>
            <a:r>
              <a:rPr lang="en-US" sz="1600" dirty="0">
                <a:solidFill>
                  <a:srgbClr val="FF0000"/>
                </a:solidFill>
                <a:latin typeface="monospace"/>
              </a:rPr>
              <a:t>backup/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E2E8F0"/>
                </a:solidFill>
                <a:latin typeface="monospace"/>
              </a:rPr>
              <a:t> │ └── bao-cao-su-co.txt 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├──</a:t>
            </a:r>
            <a:r>
              <a:rPr sz="1600" b="0" i="0" u="none" dirty="0">
                <a:solidFill>
                  <a:srgbClr val="FF0000"/>
                </a:solidFill>
                <a:latin typeface="monospace"/>
              </a:rPr>
              <a:t> scripts</a:t>
            </a:r>
            <a:r>
              <a:rPr sz="1600" b="0" i="0" u="none" dirty="0">
                <a:solidFill>
                  <a:srgbClr val="F43F5E"/>
                </a:solidFill>
                <a:latin typeface="monospace"/>
              </a:rPr>
              <a:t>/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│ └── auto_report.bat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Chạy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thành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công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,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không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lỗi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)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├── </a:t>
            </a:r>
            <a:r>
              <a:rPr sz="1600" b="0" i="0" u="none" dirty="0">
                <a:solidFill>
                  <a:srgbClr val="FF0000"/>
                </a:solidFill>
                <a:latin typeface="monospace"/>
              </a:rPr>
              <a:t>data/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│ └── quan-ly-thiet-bi.xlsx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(VLOOKUP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chạy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đúng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,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không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lỗi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#N/A)</a:t>
            </a:r>
            <a:r>
              <a:rPr sz="1600" dirty="0"/>
              <a:t>
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└── </a:t>
            </a:r>
            <a:r>
              <a:rPr sz="1600" b="0" i="0" u="none" dirty="0">
                <a:solidFill>
                  <a:srgbClr val="34D399"/>
                </a:solidFill>
                <a:latin typeface="monospace"/>
              </a:rPr>
              <a:t>.env</a:t>
            </a:r>
            <a:r>
              <a:rPr sz="1600" b="0" i="0" u="none" dirty="0">
                <a:solidFill>
                  <a:srgbClr val="E2E8F0"/>
                </a:solidFill>
                <a:latin typeface="monospace"/>
              </a:rPr>
              <a:t> 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(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Cấu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hình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ẩn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giả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monospace"/>
              </a:rPr>
              <a:t>định</a:t>
            </a:r>
            <a:r>
              <a:rPr sz="1600" b="0" i="0" u="none" dirty="0">
                <a:solidFill>
                  <a:srgbClr val="94A3B8"/>
                </a:solidFill>
                <a:latin typeface="monospace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29225" y="4391025"/>
            <a:ext cx="1733550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288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200275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350" y="4533900"/>
            <a:ext cx="1905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40764" y="2867025"/>
            <a:ext cx="4310475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3300" b="1" dirty="0">
                <a:solidFill>
                  <a:srgbClr val="FFFFFF"/>
                </a:solidFill>
                <a:latin typeface="Inter"/>
              </a:rPr>
              <a:t>Thanks you for watching</a:t>
            </a:r>
            <a:endParaRPr sz="33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24125" y="3533775"/>
            <a:ext cx="7143750" cy="53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Cảm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ơn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quý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thầy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cô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và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hội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đồng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đã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theo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dõi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phần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trình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bày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hệ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thống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hạ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94A3B8"/>
                </a:solidFill>
                <a:latin typeface="Inter"/>
              </a:rPr>
              <a:t>tầng</a:t>
            </a:r>
            <a:r>
              <a:rPr sz="2400" b="1" i="0" u="none" dirty="0">
                <a:solidFill>
                  <a:srgbClr val="94A3B8"/>
                </a:solidFill>
                <a:latin typeface="Inter"/>
              </a:rPr>
              <a:t> GreenTech!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1131" y="4505325"/>
            <a:ext cx="170973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2E8F0"/>
                </a:solidFill>
                <a:latin typeface="Inter"/>
              </a:rPr>
              <a:t>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1008</Words>
  <Application>Microsoft Office PowerPoint</Application>
  <PresentationFormat>Màn hình rộng</PresentationFormat>
  <Paragraphs>77</Paragraphs>
  <Slides>11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11</vt:i4>
      </vt:variant>
    </vt:vector>
  </HeadingPairs>
  <TitlesOfParts>
    <vt:vector size="16" baseType="lpstr">
      <vt:lpstr>Arial</vt:lpstr>
      <vt:lpstr>Calibri</vt:lpstr>
      <vt:lpstr>Inter</vt:lpstr>
      <vt:lpstr>monospace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Vu Long D26TXCN06</cp:lastModifiedBy>
  <cp:revision>5</cp:revision>
  <dcterms:created xsi:type="dcterms:W3CDTF">2013-01-27T09:14:16Z</dcterms:created>
  <dcterms:modified xsi:type="dcterms:W3CDTF">2026-10-27T07:10:15Z</dcterms:modified>
  <cp:category/>
</cp:coreProperties>
</file>